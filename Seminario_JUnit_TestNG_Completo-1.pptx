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85800"/>
            <a:ext cx="2286000" cy="411480"/>
          </a:xfrm>
          <a:prstGeom prst="roundRect">
            <a:avLst/>
          </a:prstGeom>
          <a:solidFill>
            <a:srgbClr val="30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SEMINÁRIO •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Testes Unitários com</a:t>
            </a:r>
            <a:br/>
            <a:r>
              <a:t>JUnit e TestNG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DE5EF"/>
                </a:solidFill>
              </a:defRPr>
            </a:pPr>
            <a:r>
              <a:t>Conceitos, anotações, assertions, exceções, testes parametrizados e boas práticas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6634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663440"/>
            <a:ext cx="82296" cy="1051560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4828031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33A"/>
                </a:solidFill>
              </a:defRPr>
            </a:pPr>
            <a:r>
              <a:t>JUnit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5321807"/>
            <a:ext cx="28346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Simples, moderno e muito usado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6634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4663440"/>
            <a:ext cx="82296" cy="105156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4828031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33A"/>
                </a:solidFill>
              </a:defRPr>
            </a:pPr>
            <a:r>
              <a:t>TestNG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5321807"/>
            <a:ext cx="28346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Controle flexível da execução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6634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4663440"/>
            <a:ext cx="82296" cy="1051560"/>
          </a:xfrm>
          <a:prstGeom prst="rect">
            <a:avLst/>
          </a:prstGeom>
          <a:solidFill>
            <a:srgbClr val="F4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4828031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233A"/>
                </a:solidFill>
              </a:defRPr>
            </a:pPr>
            <a:r>
              <a:t>Objetivo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5321807"/>
            <a:ext cx="28346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Entender e demonstrar testes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1. O que é teste unitário?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Testar uma pequena unidade do código de forma isolada.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82296" cy="4206240"/>
          </a:xfrm>
          <a:prstGeom prst="rect">
            <a:avLst/>
          </a:prstGeom>
          <a:solidFill>
            <a:srgbClr val="30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3233A"/>
                </a:solidFill>
              </a:defRPr>
            </a:pPr>
            <a:r>
              <a:t>Ideia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475488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Um teste unitário verifica uma pequena parte do programa — normalmente um método ou classe.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Ele compara o comportamento real com aquilo que era esperado.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Exemplo: testar apenas o método somar(2, 3), sem precisar executar o sistema inteiro.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82296" cy="1874519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8191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Por que usar?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Detecta erros cedo • facilita manutenção • dá segurança para alterar o código.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66160"/>
            <a:ext cx="5349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566160"/>
            <a:ext cx="82296" cy="2057400"/>
          </a:xfrm>
          <a:prstGeom prst="rect">
            <a:avLst/>
          </a:prstGeom>
          <a:solidFill>
            <a:srgbClr val="F4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73075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Analogia de game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224528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É como testar o ataque de um personagem sozinho: você confere se 10 de dano realmente tira 10 de HP antes de colocar a mecânica no jogo completo.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2. Framework: a caixa de 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JUnit e TestNG evitam que a equipe tenha que construir toda a infraestrutura de testes.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82296" cy="4480560"/>
          </a:xfrm>
          <a:prstGeom prst="rect">
            <a:avLst/>
          </a:prstGeom>
          <a:solidFill>
            <a:srgbClr val="30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3233A"/>
                </a:solidFill>
              </a:defRPr>
            </a:pPr>
            <a: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29967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Estrutura com códigos, regras e ferramentas prontas.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Ele organiza como os testes são escritos e executados.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Pense como uma engine de jogo: você usa recursos prontos em vez de criar tudo do zero.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82296" cy="4480560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3233A"/>
                </a:solidFill>
              </a:defRPr>
            </a:pPr>
            <a:r>
              <a:t>JUnit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29967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Framework de testes para Java.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Fornece anotações como @Test e @BeforeEach.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Possui assertions como assertEquals() e assertThrows().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82296" cy="448056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3233A"/>
                </a:solidFill>
              </a:defRPr>
            </a:pPr>
            <a:r>
              <a:t>TestNG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29967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Também testa código Java.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Possui sintaxe e recursos próprios.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É forte em configuração, grupos, dependências e controle da execução.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3. JUnit × TestNG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Os dois resolvem problemas parecidos, mas não são a mesma biblioteca.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82296" cy="4389120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3233A"/>
                </a:solidFill>
              </a:defRPr>
            </a:pPr>
            <a:r>
              <a:t>JUnit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@Test → marca um teste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@BeforeEach → prepara antes de cada teste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assertEquals(esperado, obtido)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assertThrows(...) → verifica exceções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Muito direto para testes unitários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82296" cy="438912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5819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3233A"/>
                </a:solidFill>
              </a:defRPr>
            </a:pPr>
            <a:r>
              <a:t>TestNG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075688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@Test → marca um teste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@BeforeMethod → prepara antes de cada método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Assert.assertEquals(obtido, esperado)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expectedExceptions → exceção esperada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• Mais opções de controle da suíte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4. O papel do @Test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A anotação informa ao framework: “execute este método como um teste”.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310896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2704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JUnit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4846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// JUnit</a:t>
            </a:r>
            <a:br/>
            <a:r>
              <a:t>import org.junit.jupiter.api.Test;</a:t>
            </a:r>
            <a:br/>
            <a:br/>
            <a:r>
              <a:t>@Test</a:t>
            </a:r>
            <a:br/>
            <a:r>
              <a:t>void deveSomarDoisNumeros() {</a:t>
            </a:r>
            <a:br/>
            <a:r>
              <a:t>    // teste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310896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52704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TestNG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92808"/>
            <a:ext cx="4846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// TestNG</a:t>
            </a:r>
            <a:br/>
            <a:r>
              <a:t>import org.testng.annotations.Test;</a:t>
            </a:r>
            <a:br/>
            <a:br/>
            <a:r>
              <a:t>@Test</a:t>
            </a:r>
            <a:br/>
            <a:r>
              <a:t>public void deveSomarDoisNumeros() {</a:t>
            </a:r>
            <a:br/>
            <a:r>
              <a:t>    // teste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0060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800600"/>
            <a:ext cx="82296" cy="1051560"/>
          </a:xfrm>
          <a:prstGeom prst="rect">
            <a:avLst/>
          </a:prstGeom>
          <a:solidFill>
            <a:srgbClr val="F4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6519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3233A"/>
                </a:solidFill>
              </a:defRPr>
            </a:pPr>
            <a: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458968"/>
            <a:ext cx="104241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F2937"/>
                </a:solidFill>
              </a:defRPr>
            </a:pPr>
            <a:r>
              <a:t>@Test tem a mesma ideia nos dois frameworks, mas vem de pacotes diferentes. Portanto, não é literalmente a mesma anotação.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5. Assertions: como o teste decide se passou?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Assertion = verificação automática de uma condição.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228600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2704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Esperado × obtido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// JUnit</a:t>
            </a:r>
            <a:br/>
            <a:r>
              <a:t>int resultado = calculadora.somar(2, 3);</a:t>
            </a:r>
            <a:br/>
            <a:r>
              <a:t>assertEquals(5, resultado);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228600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52704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Obtido × esperado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92808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// TestNG</a:t>
            </a:r>
            <a:br/>
            <a:r>
              <a:t>int resultado = calculadora.somar(2, 3);</a:t>
            </a:r>
            <a:br/>
            <a:r>
              <a:t>Assert.assertEquals(resultado, 5);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82296" cy="1554480"/>
          </a:xfrm>
          <a:prstGeom prst="rect">
            <a:avLst/>
          </a:prstGeom>
          <a:solidFill>
            <a:srgbClr val="D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18795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233A"/>
                </a:solidFill>
              </a:defRPr>
            </a:pPr>
            <a:r>
              <a:t>Se o valor estiver errado...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681728"/>
            <a:ext cx="104241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O framework registra uma falha e mostra a diferença. Ex.: esperávamos 5, mas o método retornou 6. Isso ajuda a localizar rapidamente o defeito.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6. Preparação: @BeforeEach × @BeforeMethod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Criar um ambiente limpo antes de cada teste reduz interferências.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283464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2704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JUnit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48463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// JUnit</a:t>
            </a:r>
            <a:br/>
            <a:r>
              <a:t>private Calculadora calculadora;</a:t>
            </a:r>
            <a:br/>
            <a:br/>
            <a:r>
              <a:t>@BeforeEach</a:t>
            </a:r>
            <a:br/>
            <a:r>
              <a:t>void prepararCalculadora() {</a:t>
            </a:r>
            <a:br/>
            <a:r>
              <a:t>    calculadora = new Calculadora();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283464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52704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TestNG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92808"/>
            <a:ext cx="48463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// TestNG</a:t>
            </a:r>
            <a:br/>
            <a:r>
              <a:t>private Calculadora calculadora;</a:t>
            </a:r>
            <a:br/>
            <a:br/>
            <a:r>
              <a:t>@BeforeMethod</a:t>
            </a:r>
            <a:br/>
            <a:r>
              <a:t>public void prepararCalculadora() {</a:t>
            </a:r>
            <a:br/>
            <a:r>
              <a:t>    calculadora = new Calculadora();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10881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572000"/>
            <a:ext cx="82296" cy="114300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73659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233A"/>
                </a:solidFill>
              </a:defRPr>
            </a:pPr>
            <a:r>
              <a:t>Por que uma nova Calculadora?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23036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Para manter os testes independentes: o estado deixado por um teste não deve alterar o resultado do próximo.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7. Exceções também precisam ser testadas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Um bom teste verifica o caminho feliz e também os cenários inválidos.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82296" cy="4480560"/>
          </a:xfrm>
          <a:prstGeom prst="rect">
            <a:avLst/>
          </a:prstGeom>
          <a:solidFill>
            <a:srgbClr val="D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O que é exceção?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29967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É um mecanismo do Java para sinalizar uma situação anormal.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Exemplo: tentar dividir por zero.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throw lança a exceção; o teste pode confirmar que ela realmente ocorreu.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6949440" cy="192024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1481328"/>
            <a:ext cx="6583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Código da Calculadora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47088"/>
            <a:ext cx="6537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int dividir(int a, int b) {</a:t>
            </a:r>
            <a:br/>
            <a:r>
              <a:t>    if (b == 0) {</a:t>
            </a:r>
            <a:br/>
            <a:r>
              <a:t>        throw new ArithmeticException("Divisão por zero");</a:t>
            </a:r>
            <a:br/>
            <a:r>
              <a:t>    }</a:t>
            </a:r>
            <a:br/>
            <a:r>
              <a:t>    return a / b;</a:t>
            </a:r>
            <a:br/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566160"/>
            <a:ext cx="6949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3566160"/>
            <a:ext cx="82296" cy="2286000"/>
          </a:xfrm>
          <a:prstGeom prst="rect">
            <a:avLst/>
          </a:prstGeom>
          <a:solidFill>
            <a:srgbClr val="F4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3730752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233A"/>
                </a:solidFill>
              </a:defRPr>
            </a:pPr>
            <a:r>
              <a:t>Por que o teste pode passar quando ocorre um erro?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4224528"/>
            <a:ext cx="6492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Porque, nesse cenário, a exceção é o comportamento esperado. O teste falharia se a divisão por zero fosse aceita normalmente ou lançasse uma exceção diferente.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8. assertThrows × expectedExceptions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Duas formas de verificar um comportamento excepcional.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297180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2704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JUnit: assertThrows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// JUnit</a:t>
            </a:r>
            <a:br/>
            <a:r>
              <a:t>@Test</a:t>
            </a:r>
            <a:br/>
            <a:r>
              <a:t>void naoDeveDividirPorZero() {</a:t>
            </a:r>
            <a:br/>
            <a:r>
              <a:t>    assertThrows(</a:t>
            </a:r>
            <a:br/>
            <a:r>
              <a:t>        ArithmeticException.class,</a:t>
            </a:r>
            <a:br/>
            <a:r>
              <a:t>        () -&gt; calculadora.dividir(10, 0)</a:t>
            </a:r>
            <a:br/>
            <a:r>
              <a:t>    );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297180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52704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TestNG: expectedExceptions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92808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// TestNG</a:t>
            </a:r>
            <a:br/>
            <a:r>
              <a:t>@Test(expectedExceptions = ArithmeticException.class)</a:t>
            </a:r>
            <a:br/>
            <a:r>
              <a:t>public void naoDeveDividirPorZero() {</a:t>
            </a:r>
            <a:br/>
            <a:r>
              <a:t>    calculadora.dividir(10, 0);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09160"/>
            <a:ext cx="10881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709160"/>
            <a:ext cx="82296" cy="1097280"/>
          </a:xfrm>
          <a:prstGeom prst="rect">
            <a:avLst/>
          </a:prstGeom>
          <a:solidFill>
            <a:srgbClr val="30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87375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233A"/>
                </a:solidFill>
              </a:defRPr>
            </a:pPr>
            <a:r>
              <a:t>E o () -&gt;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367528"/>
            <a:ext cx="1042416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É uma expressão lambda. Aqui ela entrega ao JUnit o trecho de código que deve ser executado e observado.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9. Teste positivo, negativo e de limite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Implementação extra: ampliar os cenários aumenta a qualidade da suíte.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82296" cy="443484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Positivo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29967"/>
            <a:ext cx="30175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Entrada válida e resultado normal.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Ex.: 50 ÷ 10 = 5.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Pergunta: a funcionalidade faz o que deveria?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82296" cy="4434840"/>
          </a:xfrm>
          <a:prstGeom prst="rect">
            <a:avLst/>
          </a:prstGeom>
          <a:solidFill>
            <a:srgbClr val="D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Negativo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29967"/>
            <a:ext cx="30175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Entrada ou situação inválida.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Ex.: 10 ÷ 0 lança exceção.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Pergunta: o sistema rejeita o que deveria rejeitar?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82296" cy="4434840"/>
          </a:xfrm>
          <a:prstGeom prst="rect">
            <a:avLst/>
          </a:prstGeom>
          <a:solidFill>
            <a:srgbClr val="F4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36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Limite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29967"/>
            <a:ext cx="30175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Valores nas bordas do comportamento.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Ex.: 0 × 50, números negativos, valores máximos.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Pergunta: o código continua correto nos extremos?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10. Testes parametrizados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Um único teste pode ser executado várias vezes com dados diferentes.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6583680" cy="438912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35607"/>
            <a:ext cx="6217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JUnit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617220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@ParameterizedTest</a:t>
            </a:r>
            <a:br/>
            <a:r>
              <a:t>@CsvSource({</a:t>
            </a:r>
            <a:br/>
            <a:r>
              <a:t>    "2, 3, 5",</a:t>
            </a:r>
            <a:br/>
            <a:r>
              <a:t>    "10, 5, 15",</a:t>
            </a:r>
            <a:br/>
            <a:r>
              <a:t>    "-2, 2, 0",</a:t>
            </a:r>
            <a:br/>
            <a:r>
              <a:t>    "0, 0, 0"</a:t>
            </a:r>
            <a:br/>
            <a:r>
              <a:t>})</a:t>
            </a:r>
            <a:br/>
            <a:r>
              <a:t>void deveSomar(int a, int b, int esperado) {</a:t>
            </a:r>
            <a:br/>
            <a:r>
              <a:t>    assertEquals(esperado, calculadora.somar(a, b));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25880"/>
            <a:ext cx="39776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325880"/>
            <a:ext cx="82296" cy="196596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490472"/>
            <a:ext cx="3520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Vantagem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1984248"/>
            <a:ext cx="35204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Menos repetição de código e mais cenários testados.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566160"/>
            <a:ext cx="3977639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3566160"/>
            <a:ext cx="82296" cy="2148840"/>
          </a:xfrm>
          <a:prstGeom prst="rect">
            <a:avLst/>
          </a:prstGeom>
          <a:solidFill>
            <a:srgbClr val="F4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3730752"/>
            <a:ext cx="35204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Analogia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4224528"/>
            <a:ext cx="35204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É como enfrentar o mesmo chefe com várias builds para confirmar que a mecânica funciona em situações diferentes.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11. Simulando um bug de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Alterar a + b para a + b + 1 demonstra que o teste realmente consegue detectar defeitos.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242316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2704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// Código correto</a:t>
            </a:r>
            <a:br/>
            <a:r>
              <a:t>int somar(int a, int b) {</a:t>
            </a:r>
            <a:br/>
            <a:r>
              <a:t>    return a + b;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57800" cy="2423160"/>
          </a:xfrm>
          <a:prstGeom prst="roundRect">
            <a:avLst/>
          </a:prstGeom>
          <a:solidFill>
            <a:srgbClr val="1C222C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527048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FA9F5"/>
                </a:solidFill>
              </a:defRPr>
            </a:pPr>
            <a:r>
              <a:t>Depois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92808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// Bug proposital</a:t>
            </a:r>
            <a:br/>
            <a:r>
              <a:t>int somar(int a, int b) {</a:t>
            </a:r>
            <a:br/>
            <a:r>
              <a:t>    return a + b + 1;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10881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160520"/>
            <a:ext cx="82296" cy="1554480"/>
          </a:xfrm>
          <a:prstGeom prst="rect">
            <a:avLst/>
          </a:prstGeom>
          <a:solidFill>
            <a:srgbClr val="D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32511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3233A"/>
                </a:solidFill>
              </a:defRPr>
            </a:pPr>
            <a:r>
              <a:t>Resultado esperado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818888"/>
            <a:ext cx="104241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O teste que esperava 5 passa a receber 6 e falha. Isso comprova que a suíte não está apenas “rodando”: ela está verificando o comportamento.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12. O ciclo Arrange → Act → Assert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Uma forma simples de organizar mentalmente cada teste.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82296" cy="4023360"/>
          </a:xfrm>
          <a:prstGeom prst="rect">
            <a:avLst/>
          </a:prstGeom>
          <a:solidFill>
            <a:srgbClr val="30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190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3233A"/>
                </a:solidFill>
              </a:defRPr>
            </a:pPr>
            <a:r>
              <a:t>1 • Arrange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12848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Preparar o cenário.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Criar a Calculadora e definir os valores de entrada.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4747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82296" cy="4023360"/>
          </a:xfrm>
          <a:prstGeom prst="rect">
            <a:avLst/>
          </a:prstGeom>
          <a:solidFill>
            <a:srgbClr val="F4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7190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3233A"/>
                </a:solidFill>
              </a:defRPr>
            </a:pPr>
            <a:r>
              <a:t>2 •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12848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Executar a ação.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Chamar calculadora.dividir(50, 10).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747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82296" cy="402336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7190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3233A"/>
                </a:solidFill>
              </a:defRPr>
            </a:pPr>
            <a:r>
              <a:t>3 • Assert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212848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Verificar o resultado.</a:t>
            </a:r>
          </a:p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Confirmar com assertEquals(5, resultado).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13. Boas práticas de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Testes bons precisam ser fáceis de entender, repetir e manter.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2296" cy="452628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Faça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48006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✓ Nomeie o teste pelo comportamento esperado.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✓ Teste uma ideia principal por vez.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✓ Mantenha os testes independentes.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✓ Inclua cenários válidos, inválidos e limites.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✓ Prefira testes rápidos e determinísticos.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82296" cy="4526280"/>
          </a:xfrm>
          <a:prstGeom prst="rect">
            <a:avLst/>
          </a:prstGeom>
          <a:solidFill>
            <a:srgbClr val="D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4904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Evite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984248"/>
            <a:ext cx="48006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✕ Testes que dependem da ordem de execução.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✕ Vários comportamentos sem relação no mesmo teste.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✕ Ignorar exceções e casos extremos.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✕ Alterar o teste apenas para “ficar verde”.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✕ Achar que 100% dos testes passando = zero bugs.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14. Testes passando ≠ programa perfeito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A suíte só garante os cenários que foram realmente escritos.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82296" cy="132588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73351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3233A"/>
                </a:solidFill>
              </a:defRPr>
            </a:pPr>
            <a:r>
              <a:t>O que significa “verde”?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167128"/>
            <a:ext cx="102412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F2937"/>
                </a:solidFill>
              </a:defRPr>
            </a:pPr>
            <a:r>
              <a:t>Os casos testados produziram os resultados esperados.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0749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82296" cy="2240280"/>
          </a:xfrm>
          <a:prstGeom prst="rect">
            <a:avLst/>
          </a:prstGeom>
          <a:solidFill>
            <a:srgbClr val="D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73552"/>
            <a:ext cx="4617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Ainda podem existir bugs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67328"/>
            <a:ext cx="4617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Cenários não imaginados • integração entre componentes • entradas inesperadas • problemas de desempenho ou ambiente.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10896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108960"/>
            <a:ext cx="82296" cy="2240280"/>
          </a:xfrm>
          <a:prstGeom prst="rect">
            <a:avLst/>
          </a:prstGeom>
          <a:solidFill>
            <a:srgbClr val="30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27355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Então qual é o objetivo?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767328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Reduzir riscos e criar uma rede de segurança para evoluir o código com mais confiança.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15. Qual escolher?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A escolha depende do contexto, da equipe e do projeto.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82296" cy="4251960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Escolha JUnit quando...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4800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Você quer uma solução simples e direta para testes Java.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O projeto já usa o ecossistema JUnit 5.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A prioridade é legibilidade e testes unitários comuns.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82296" cy="425196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58191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Considere TestNG quando...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075688"/>
            <a:ext cx="4800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Você precisa de controles específicos de execução.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Quer trabalhar com grupos, dependências e configurações de suíte.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A equipe ou projeto já está padronizado em TestNG.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16. Perguntas rápidas para 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DE5EF"/>
                </a:solidFill>
              </a:defRPr>
            </a:pPr>
            <a:r>
              <a:t>Respostas curtas para usar durante o seminário.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82296" cy="960120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9047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3233A"/>
                </a:solidFill>
              </a:defRPr>
            </a:pPr>
            <a:r>
              <a:t>@Test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984248"/>
            <a:ext cx="4754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Marca um método como teste.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82296" cy="96012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9047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3233A"/>
                </a:solidFill>
              </a:defRPr>
            </a:pPr>
            <a:r>
              <a:t>assertEquals()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984248"/>
            <a:ext cx="4754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Compara esperado e obtido.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32888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532888"/>
            <a:ext cx="82296" cy="960120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6974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3233A"/>
                </a:solidFill>
              </a:defRPr>
            </a:pPr>
            <a:r>
              <a:t>@BeforeEach / @BeforeMethod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191256"/>
            <a:ext cx="4754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Preparam o cenário antes de cada teste.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32888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532888"/>
            <a:ext cx="82296" cy="96012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6974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3233A"/>
                </a:solidFill>
              </a:defRPr>
            </a:pPr>
            <a:r>
              <a:t>throw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191256"/>
            <a:ext cx="4754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Lança uma exceção.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39896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39896"/>
            <a:ext cx="82296" cy="960120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904487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3233A"/>
                </a:solidFill>
              </a:defRPr>
            </a:pPr>
            <a:r>
              <a:t>assertThrows()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398264"/>
            <a:ext cx="4754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JUnit: confirma que uma exceção foi lançada.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39896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39896"/>
            <a:ext cx="82296" cy="96012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904487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3233A"/>
                </a:solidFill>
              </a:defRPr>
            </a:pPr>
            <a:r>
              <a:t>expectedExceptions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398264"/>
            <a:ext cx="4754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TestNG: declara a exceção esperada.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946904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946904"/>
            <a:ext cx="82296" cy="960120"/>
          </a:xfrm>
          <a:prstGeom prst="rect">
            <a:avLst/>
          </a:prstGeom>
          <a:solidFill>
            <a:srgbClr val="3FA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111496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3233A"/>
                </a:solidFill>
              </a:defRPr>
            </a:pPr>
            <a:r>
              <a:t>() -&gt;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5605272"/>
            <a:ext cx="4754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Lambda que entrega um bloco de código para execução.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946904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946904"/>
            <a:ext cx="82296" cy="960120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5111496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3233A"/>
                </a:solidFill>
              </a:defRPr>
            </a:pPr>
            <a:r>
              <a:t>Todos passaram?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605272"/>
            <a:ext cx="4754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</a:defRPr>
            </a:pPr>
            <a:r>
              <a:t>Só os cenários testados estão confirmados.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A"/>
                </a:solidFill>
              </a:defRPr>
            </a:pPr>
            <a:r>
              <a:t>17. Conclusão e 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06CB5"/>
                </a:solidFill>
              </a:defRPr>
            </a:pPr>
            <a:r>
              <a:t>O foco não é apenas executar testes, mas provar comportamentos.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82296" cy="4480560"/>
          </a:xfrm>
          <a:prstGeom prst="rect">
            <a:avLst/>
          </a:prstGeom>
          <a:solidFill>
            <a:srgbClr val="30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3233A"/>
                </a:solidFill>
              </a:defRPr>
            </a:pPr>
            <a:r>
              <a:t>Conclusão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JUnit e TestNG automatizam verificações no código Java.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Assertions comprovam resultados; anotações controlam o ciclo dos testes; exceções também fazem parte do comportamento esperado.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Testes parametrizados e bons cenários aumentam a cobertura de comportamentos sem repetir código.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</a:defRPr>
            </a:pPr>
            <a:r>
              <a:t>Uma boa suíte funciona como uma rede de segurança para futuras mudanças.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325880"/>
            <a:ext cx="4069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325880"/>
            <a:ext cx="82296" cy="4480560"/>
          </a:xfrm>
          <a:prstGeom prst="rect">
            <a:avLst/>
          </a:prstGeom>
          <a:solidFill>
            <a:srgbClr val="F4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1490472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3233A"/>
                </a:solidFill>
              </a:defRPr>
            </a:pPr>
            <a:r>
              <a:t>Materiais-base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1984248"/>
            <a:ext cx="3611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Resumo_JUnit_TestNG_V2(1).pdf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Roteiro_Seminario_JUnit_TestNG(1).pdf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</a:defRPr>
            </a:pPr>
            <a:r>
              <a:t>Conteúdo e exemplos do projeto Calculadora.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91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